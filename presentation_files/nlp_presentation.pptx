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linkedin.com/in/hadifathipour?lipi=urn%3Ali%3Apage%3Ad_flagship3_profile_view_base_contact_details%3B%2Bd94TCZgTuuCYcq8lvsvUg%3D%3D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32478"/>
            <a:ext cx="3754522" cy="3754522"/>
            <a:chOff x="0" y="0"/>
            <a:chExt cx="5006029" cy="50060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503014"/>
              <a:ext cx="1251507" cy="125150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1251507" cy="125150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4533478" y="0"/>
            <a:ext cx="3754522" cy="3754522"/>
            <a:chOff x="0" y="0"/>
            <a:chExt cx="5006029" cy="500602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2503014"/>
              <a:ext cx="1251507" cy="1251507"/>
              <a:chOff x="0" y="0"/>
              <a:chExt cx="1913890" cy="19138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1251507" cy="1251507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48" id="48"/>
          <p:cNvSpPr txBox="true"/>
          <p:nvPr/>
        </p:nvSpPr>
        <p:spPr>
          <a:xfrm rot="0">
            <a:off x="1028700" y="3024272"/>
            <a:ext cx="16230600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Improving Generative Ad Text on Facebook using Reinforcement Learning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958226" y="8003583"/>
            <a:ext cx="4917630" cy="40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student name: </a:t>
            </a:r>
            <a:r>
              <a:rPr lang="en-US" b="true" sz="2384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2" tooltip="https://www.linkedin.com/in/hadifathipour?lipi=urn%3Ali%3Apage%3Ad_flagship3_profile_view_base_contact_details%3B%2Bd94TCZgTuuCYcq8lvsvUg%3D%3D"/>
              </a:rPr>
              <a:t>hadi fathipour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61287" y="8003583"/>
            <a:ext cx="4172342" cy="40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student number: 40411334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105329" y="6002999"/>
            <a:ext cx="6686942" cy="40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course: Natrual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32478"/>
            <a:ext cx="3754522" cy="3754522"/>
            <a:chOff x="0" y="0"/>
            <a:chExt cx="5006029" cy="500602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2503014"/>
              <a:ext cx="1251507" cy="125150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1251507" cy="125150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25" id="25"/>
          <p:cNvSpPr txBox="true"/>
          <p:nvPr/>
        </p:nvSpPr>
        <p:spPr>
          <a:xfrm rot="0">
            <a:off x="799542" y="2010374"/>
            <a:ext cx="16688916" cy="3422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Literature Review</a:t>
            </a:r>
          </a:p>
          <a:p>
            <a:pPr algn="ctr">
              <a:lnSpc>
                <a:spcPts val="3629"/>
              </a:lnSpc>
              <a:spcBef>
                <a:spcPct val="0"/>
              </a:spcBef>
            </a:pPr>
            <a:r>
              <a:rPr lang="en-US" b="true" sz="259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Overview of the Research Area</a:t>
            </a:r>
          </a:p>
          <a:p>
            <a:pPr algn="l">
              <a:lnSpc>
                <a:spcPts val="3348"/>
              </a:lnSpc>
              <a:spcBef>
                <a:spcPct val="0"/>
              </a:spcBef>
            </a:pPr>
            <a:r>
              <a:rPr lang="en-US" b="true" sz="23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Recent advances in Natural Language Processing have shown that pre-trained large language models (LLMs) require an additional post-training or alignment phase in order to perform well on real-world tasks.</a:t>
            </a:r>
          </a:p>
          <a:p>
            <a:pPr algn="l">
              <a:lnSpc>
                <a:spcPts val="3348"/>
              </a:lnSpc>
              <a:spcBef>
                <a:spcPct val="0"/>
              </a:spcBef>
            </a:pPr>
            <a:r>
              <a:rPr lang="en-US" b="true" sz="23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line of research includes methods such as Supervised Fine-Tuning (SFT), Reinforcement Learning from Human Feedback (RLHF), and more recently, Reinforcement Learning using performance-based signals.</a:t>
            </a:r>
          </a:p>
          <a:p>
            <a:pPr algn="l">
              <a:lnSpc>
                <a:spcPts val="3348"/>
              </a:lnSpc>
              <a:spcBef>
                <a:spcPct val="0"/>
              </a:spcBef>
            </a:pPr>
            <a:r>
              <a:rPr lang="en-US" b="true" sz="23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common goal of these approaches is to align model outputs with downstream objectives that are not fully captured by likelihood-based training alone.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5875635" y="0"/>
            <a:ext cx="2412365" cy="2412365"/>
            <a:chOff x="0" y="0"/>
            <a:chExt cx="3216487" cy="3216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04122" y="1608244"/>
              <a:ext cx="804122" cy="804122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08244" y="1608244"/>
              <a:ext cx="804122" cy="804122"/>
              <a:chOff x="0" y="0"/>
              <a:chExt cx="1913890" cy="1913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412365"/>
              <a:ext cx="804122" cy="804122"/>
              <a:chOff x="0" y="0"/>
              <a:chExt cx="1913890" cy="19138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608244"/>
              <a:ext cx="804122" cy="804122"/>
              <a:chOff x="0" y="0"/>
              <a:chExt cx="1913890" cy="19138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804122" y="2412365"/>
              <a:ext cx="804122" cy="804122"/>
              <a:chOff x="0" y="0"/>
              <a:chExt cx="1913890" cy="1913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804122"/>
              <a:ext cx="804122" cy="804122"/>
              <a:chOff x="0" y="0"/>
              <a:chExt cx="1913890" cy="191389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08244" y="2412365"/>
              <a:ext cx="804122" cy="804122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04122" cy="804122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2412365" y="2412365"/>
              <a:ext cx="804122" cy="804122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48" id="48"/>
          <p:cNvGrpSpPr/>
          <p:nvPr/>
        </p:nvGrpSpPr>
        <p:grpSpPr>
          <a:xfrm rot="0">
            <a:off x="461845" y="2110585"/>
            <a:ext cx="5756584" cy="2109063"/>
            <a:chOff x="0" y="0"/>
            <a:chExt cx="7675446" cy="28120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18659" y="0"/>
              <a:ext cx="6813419" cy="2812084"/>
            </a:xfrm>
            <a:custGeom>
              <a:avLst/>
              <a:gdLst/>
              <a:ahLst/>
              <a:cxnLst/>
              <a:rect r="r" b="b" t="t" l="l"/>
              <a:pathLst>
                <a:path h="2812084" w="6813419">
                  <a:moveTo>
                    <a:pt x="0" y="0"/>
                  </a:moveTo>
                  <a:lnTo>
                    <a:pt x="6813419" y="0"/>
                  </a:lnTo>
                  <a:lnTo>
                    <a:pt x="6813419" y="2812084"/>
                  </a:lnTo>
                  <a:lnTo>
                    <a:pt x="0" y="2812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4630" r="-8310" b="-36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0" y="1193888"/>
              <a:ext cx="7675446" cy="3233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3"/>
                </a:lnSpc>
                <a:spcBef>
                  <a:spcPct val="0"/>
                </a:spcBef>
              </a:pPr>
              <a:r>
                <a:rPr lang="en-US" b="true" sz="145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what is the purpose in a ad text generation problem ?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20486" y="2110585"/>
            <a:ext cx="5344737" cy="1958173"/>
            <a:chOff x="0" y="0"/>
            <a:chExt cx="7126316" cy="261089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81552" y="0"/>
              <a:ext cx="6325962" cy="2610897"/>
            </a:xfrm>
            <a:custGeom>
              <a:avLst/>
              <a:gdLst/>
              <a:ahLst/>
              <a:cxnLst/>
              <a:rect r="r" b="b" t="t" l="l"/>
              <a:pathLst>
                <a:path h="2610897" w="6325962">
                  <a:moveTo>
                    <a:pt x="0" y="0"/>
                  </a:moveTo>
                  <a:lnTo>
                    <a:pt x="6325962" y="0"/>
                  </a:lnTo>
                  <a:lnTo>
                    <a:pt x="6325962" y="2610897"/>
                  </a:lnTo>
                  <a:lnTo>
                    <a:pt x="0" y="261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4630" r="-8310" b="-368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0" y="1106428"/>
              <a:ext cx="7126316" cy="302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97"/>
                </a:lnSpc>
                <a:spcBef>
                  <a:spcPct val="0"/>
                </a:spcBef>
              </a:pPr>
              <a:r>
                <a:rPr lang="en-US" b="true" sz="1355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what is a good language model ?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3340137" y="4219648"/>
            <a:ext cx="13981" cy="10641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2137812" y="5283823"/>
            <a:ext cx="2432613" cy="2432613"/>
            <a:chOff x="0" y="0"/>
            <a:chExt cx="3243484" cy="32434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43484" cy="3243484"/>
            </a:xfrm>
            <a:custGeom>
              <a:avLst/>
              <a:gdLst/>
              <a:ahLst/>
              <a:cxnLst/>
              <a:rect r="r" b="b" t="t" l="l"/>
              <a:pathLst>
                <a:path h="3243484" w="3243484">
                  <a:moveTo>
                    <a:pt x="0" y="0"/>
                  </a:moveTo>
                  <a:lnTo>
                    <a:pt x="3243484" y="0"/>
                  </a:lnTo>
                  <a:lnTo>
                    <a:pt x="3243484" y="3243484"/>
                  </a:lnTo>
                  <a:lnTo>
                    <a:pt x="0" y="3243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0" y="948805"/>
              <a:ext cx="3243484" cy="1307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text near to human language or high CTR ?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576548" y="5296763"/>
            <a:ext cx="2432613" cy="3099363"/>
            <a:chOff x="0" y="0"/>
            <a:chExt cx="3243484" cy="41324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43484" cy="4132484"/>
            </a:xfrm>
            <a:custGeom>
              <a:avLst/>
              <a:gdLst/>
              <a:ahLst/>
              <a:cxnLst/>
              <a:rect r="r" b="b" t="t" l="l"/>
              <a:pathLst>
                <a:path h="4132484" w="3243484">
                  <a:moveTo>
                    <a:pt x="0" y="0"/>
                  </a:moveTo>
                  <a:lnTo>
                    <a:pt x="3243484" y="0"/>
                  </a:lnTo>
                  <a:lnTo>
                    <a:pt x="3243484" y="4132484"/>
                  </a:lnTo>
                  <a:lnTo>
                    <a:pt x="0" y="41324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-13704" t="0" r="-1370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 rot="0">
              <a:off x="0" y="948805"/>
              <a:ext cx="3243484" cy="2196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</a:pPr>
              <a:r>
                <a:rPr lang="en-US" sz="188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should CTR be increased or perplexity ?</a:t>
              </a:r>
            </a:p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(modern vs old attitude approach)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>
            <a:off x="14792855" y="4068758"/>
            <a:ext cx="0" cy="12280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2" id="62"/>
          <p:cNvGrpSpPr/>
          <p:nvPr/>
        </p:nvGrpSpPr>
        <p:grpSpPr>
          <a:xfrm rot="0">
            <a:off x="6500153" y="5143500"/>
            <a:ext cx="4718613" cy="2099238"/>
            <a:chOff x="0" y="0"/>
            <a:chExt cx="6291484" cy="27989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291484" cy="2798984"/>
            </a:xfrm>
            <a:custGeom>
              <a:avLst/>
              <a:gdLst/>
              <a:ahLst/>
              <a:cxnLst/>
              <a:rect r="r" b="b" t="t" l="l"/>
              <a:pathLst>
                <a:path h="2798984" w="6291484">
                  <a:moveTo>
                    <a:pt x="0" y="0"/>
                  </a:moveTo>
                  <a:lnTo>
                    <a:pt x="6291484" y="0"/>
                  </a:lnTo>
                  <a:lnTo>
                    <a:pt x="6291484" y="2798984"/>
                  </a:lnTo>
                  <a:lnTo>
                    <a:pt x="0" y="2798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-62388" r="0" b="-6238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 rot="0">
              <a:off x="0" y="948805"/>
              <a:ext cx="6291484" cy="863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can we just use traditional supervised fine-tuning to increase CTR ?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flipV="true">
            <a:off x="4570425" y="3712522"/>
            <a:ext cx="2238356" cy="27876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10910140" y="3712522"/>
            <a:ext cx="2666409" cy="3133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>
            <a:off x="8859460" y="4555240"/>
            <a:ext cx="0" cy="5882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8" id="68"/>
          <p:cNvGrpSpPr/>
          <p:nvPr/>
        </p:nvGrpSpPr>
        <p:grpSpPr>
          <a:xfrm rot="0">
            <a:off x="6500153" y="7729376"/>
            <a:ext cx="4718613" cy="2099238"/>
            <a:chOff x="0" y="0"/>
            <a:chExt cx="6291484" cy="27989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291484" cy="2798984"/>
            </a:xfrm>
            <a:custGeom>
              <a:avLst/>
              <a:gdLst/>
              <a:ahLst/>
              <a:cxnLst/>
              <a:rect r="r" b="b" t="t" l="l"/>
              <a:pathLst>
                <a:path h="2798984" w="6291484">
                  <a:moveTo>
                    <a:pt x="0" y="0"/>
                  </a:moveTo>
                  <a:lnTo>
                    <a:pt x="6291484" y="0"/>
                  </a:lnTo>
                  <a:lnTo>
                    <a:pt x="6291484" y="2798984"/>
                  </a:lnTo>
                  <a:lnTo>
                    <a:pt x="0" y="2798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-62388" r="0" b="-6238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 rot="0">
              <a:off x="0" y="948805"/>
              <a:ext cx="6291484" cy="863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can we just use traditional supervised fine-tuning to increase CTR ? (RLHF)</a:t>
              </a:r>
            </a:p>
          </p:txBody>
        </p:sp>
      </p:grpSp>
      <p:sp>
        <p:nvSpPr>
          <p:cNvPr name="AutoShape 71" id="71"/>
          <p:cNvSpPr/>
          <p:nvPr/>
        </p:nvSpPr>
        <p:spPr>
          <a:xfrm>
            <a:off x="8859460" y="7242738"/>
            <a:ext cx="0" cy="4866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72" id="72"/>
          <p:cNvSpPr txBox="true"/>
          <p:nvPr/>
        </p:nvSpPr>
        <p:spPr>
          <a:xfrm rot="0">
            <a:off x="-3999122" y="328721"/>
            <a:ext cx="14151089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0"/>
              </a:lnSpc>
            </a:pPr>
            <a:r>
              <a:rPr lang="en-US" b="true" sz="3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definition 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808780" y="2869805"/>
            <a:ext cx="4101359" cy="1685435"/>
            <a:chOff x="0" y="0"/>
            <a:chExt cx="5468479" cy="224724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68479" cy="2247246"/>
            </a:xfrm>
            <a:custGeom>
              <a:avLst/>
              <a:gdLst/>
              <a:ahLst/>
              <a:cxnLst/>
              <a:rect r="r" b="b" t="t" l="l"/>
              <a:pathLst>
                <a:path h="2247246" w="5468479">
                  <a:moveTo>
                    <a:pt x="0" y="0"/>
                  </a:moveTo>
                  <a:lnTo>
                    <a:pt x="5468479" y="0"/>
                  </a:lnTo>
                  <a:lnTo>
                    <a:pt x="5468479" y="2247246"/>
                  </a:lnTo>
                  <a:lnTo>
                    <a:pt x="0" y="224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-216" r="0" b="-21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 rot="0">
              <a:off x="190558" y="470823"/>
              <a:ext cx="5087362" cy="1116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en-US" sz="162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to increase CTR ?</a:t>
              </a:r>
            </a:p>
            <a:p>
              <a:pPr algn="l" marL="351737" indent="-175868" lvl="1">
                <a:lnSpc>
                  <a:spcPts val="2280"/>
                </a:lnSpc>
                <a:buFont typeface="Arial"/>
                <a:buChar char="•"/>
              </a:pPr>
              <a:r>
                <a:rPr lang="en-US" b="true" sz="162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CTR is behavioral  and not lingual </a:t>
              </a:r>
            </a:p>
            <a:p>
              <a:pPr algn="l" marL="351737" indent="-175868" lvl="1">
                <a:lnSpc>
                  <a:spcPts val="22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62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CTR has lots of noise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5875635" y="0"/>
            <a:ext cx="2412365" cy="2412365"/>
            <a:chOff x="0" y="0"/>
            <a:chExt cx="3216487" cy="3216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04122" y="1608244"/>
              <a:ext cx="804122" cy="804122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08244" y="1608244"/>
              <a:ext cx="804122" cy="804122"/>
              <a:chOff x="0" y="0"/>
              <a:chExt cx="1913890" cy="1913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412365"/>
              <a:ext cx="804122" cy="804122"/>
              <a:chOff x="0" y="0"/>
              <a:chExt cx="1913890" cy="19138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608244"/>
              <a:ext cx="804122" cy="804122"/>
              <a:chOff x="0" y="0"/>
              <a:chExt cx="1913890" cy="19138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804122" y="2412365"/>
              <a:ext cx="804122" cy="804122"/>
              <a:chOff x="0" y="0"/>
              <a:chExt cx="1913890" cy="1913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804122"/>
              <a:ext cx="804122" cy="804122"/>
              <a:chOff x="0" y="0"/>
              <a:chExt cx="1913890" cy="191389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08244" y="2412365"/>
              <a:ext cx="804122" cy="804122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04122" cy="804122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2412365" y="2412365"/>
              <a:ext cx="804122" cy="804122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Freeform 48" id="48"/>
          <p:cNvSpPr/>
          <p:nvPr/>
        </p:nvSpPr>
        <p:spPr>
          <a:xfrm flipH="false" flipV="false" rot="0">
            <a:off x="3166521" y="1477579"/>
            <a:ext cx="5977479" cy="4889501"/>
          </a:xfrm>
          <a:custGeom>
            <a:avLst/>
            <a:gdLst/>
            <a:ahLst/>
            <a:cxnLst/>
            <a:rect r="r" b="b" t="t" l="l"/>
            <a:pathLst>
              <a:path h="4889501" w="5977479">
                <a:moveTo>
                  <a:pt x="0" y="0"/>
                </a:moveTo>
                <a:lnTo>
                  <a:pt x="5977479" y="0"/>
                </a:lnTo>
                <a:lnTo>
                  <a:pt x="5977479" y="4889501"/>
                </a:lnTo>
                <a:lnTo>
                  <a:pt x="0" y="488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-2056022" y="59690"/>
            <a:ext cx="14151089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0"/>
              </a:lnSpc>
            </a:pPr>
            <a:r>
              <a:rPr lang="en-US" b="true" sz="3500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solution: use reinforcement learning (RLPF)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0933017" y="618942"/>
            <a:ext cx="4744471" cy="1958173"/>
            <a:chOff x="0" y="0"/>
            <a:chExt cx="6325962" cy="26108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325962" cy="2610897"/>
            </a:xfrm>
            <a:custGeom>
              <a:avLst/>
              <a:gdLst/>
              <a:ahLst/>
              <a:cxnLst/>
              <a:rect r="r" b="b" t="t" l="l"/>
              <a:pathLst>
                <a:path h="2610897" w="6325962">
                  <a:moveTo>
                    <a:pt x="0" y="0"/>
                  </a:moveTo>
                  <a:lnTo>
                    <a:pt x="6325962" y="0"/>
                  </a:lnTo>
                  <a:lnTo>
                    <a:pt x="6325962" y="2610897"/>
                  </a:lnTo>
                  <a:lnTo>
                    <a:pt x="0" y="261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342449" y="844483"/>
              <a:ext cx="5392152" cy="863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</a:pPr>
              <a:r>
                <a:rPr lang="en-US" sz="188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reward: </a:t>
              </a:r>
            </a:p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CTR = num of clicks / impression 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H="true">
            <a:off x="9144000" y="1598028"/>
            <a:ext cx="1789017" cy="23243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4" id="54"/>
          <p:cNvGrpSpPr/>
          <p:nvPr/>
        </p:nvGrpSpPr>
        <p:grpSpPr>
          <a:xfrm rot="0">
            <a:off x="10933017" y="2776556"/>
            <a:ext cx="4744471" cy="2291548"/>
            <a:chOff x="0" y="0"/>
            <a:chExt cx="6325962" cy="305539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325962" cy="3055397"/>
            </a:xfrm>
            <a:custGeom>
              <a:avLst/>
              <a:gdLst/>
              <a:ahLst/>
              <a:cxnLst/>
              <a:rect r="r" b="b" t="t" l="l"/>
              <a:pathLst>
                <a:path h="3055397" w="6325962">
                  <a:moveTo>
                    <a:pt x="0" y="0"/>
                  </a:moveTo>
                  <a:lnTo>
                    <a:pt x="6325962" y="0"/>
                  </a:lnTo>
                  <a:lnTo>
                    <a:pt x="6325962" y="3055397"/>
                  </a:lnTo>
                  <a:lnTo>
                    <a:pt x="0" y="30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8512" t="0" r="-851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 rot="0">
              <a:off x="342449" y="844483"/>
              <a:ext cx="5392152" cy="13077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</a:pPr>
              <a:r>
                <a:rPr lang="en-US" sz="188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policy: LLM model </a:t>
              </a:r>
            </a:p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sth that estimates CTR for a given text (P(CTR|txt))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flipH="true">
            <a:off x="9144000" y="3922330"/>
            <a:ext cx="17890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8" id="58"/>
          <p:cNvGrpSpPr/>
          <p:nvPr/>
        </p:nvGrpSpPr>
        <p:grpSpPr>
          <a:xfrm rot="0">
            <a:off x="10933017" y="5430053"/>
            <a:ext cx="4744471" cy="1958173"/>
            <a:chOff x="0" y="0"/>
            <a:chExt cx="6325962" cy="261089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25962" cy="2610897"/>
            </a:xfrm>
            <a:custGeom>
              <a:avLst/>
              <a:gdLst/>
              <a:ahLst/>
              <a:cxnLst/>
              <a:rect r="r" b="b" t="t" l="l"/>
              <a:pathLst>
                <a:path h="2610897" w="6325962">
                  <a:moveTo>
                    <a:pt x="0" y="0"/>
                  </a:moveTo>
                  <a:lnTo>
                    <a:pt x="6325962" y="0"/>
                  </a:lnTo>
                  <a:lnTo>
                    <a:pt x="6325962" y="2610897"/>
                  </a:lnTo>
                  <a:lnTo>
                    <a:pt x="0" y="2610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258" t="-20517" r="-1025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 rot="0">
              <a:off x="342449" y="844483"/>
              <a:ext cx="5392152" cy="863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</a:pPr>
              <a:r>
                <a:rPr lang="en-US" sz="1884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enviroment:</a:t>
              </a:r>
            </a:p>
            <a:p>
              <a:pPr algn="ctr">
                <a:lnSpc>
                  <a:spcPts val="2638"/>
                </a:lnSpc>
                <a:spcBef>
                  <a:spcPct val="0"/>
                </a:spcBef>
              </a:pPr>
              <a:r>
                <a:rPr lang="en-US" b="true" sz="1884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social media and user interaction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flipH="true" flipV="true">
            <a:off x="9105900" y="3922330"/>
            <a:ext cx="1827117" cy="24868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25" id="25"/>
          <p:cNvSpPr txBox="true"/>
          <p:nvPr/>
        </p:nvSpPr>
        <p:spPr>
          <a:xfrm rot="0">
            <a:off x="514175" y="859507"/>
            <a:ext cx="17773825" cy="577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1 (Survey / Foundational Work)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Ouyang et al., 2022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“Training Language Models to Follow Instructions with Human Feedback”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idea: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work introduces the RLHF framework, where human preference data is used to train a reward model, and the language model is further optimized using reinforcement learning (PPO).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Strengths: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Establishes a general alignment framework for LLMs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Produces high-quality and controllable outputs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Forms the foundation of systems such as ChatGPT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Weaknesses: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Requires large amounts of costly human annotations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Human feedback is subjective and noisy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Limited scalability to domains with clear objective metrics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Relevance: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paper provides the theoretical and methodological foundation upon which later RL-based alignment methods are built.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25" id="25"/>
          <p:cNvSpPr txBox="true"/>
          <p:nvPr/>
        </p:nvSpPr>
        <p:spPr>
          <a:xfrm rot="0">
            <a:off x="257087" y="1289945"/>
            <a:ext cx="17773825" cy="577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2 (Post-2022 Research Paper)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Deng et al., 2022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“RLPrompt: Optimizing Discrete Text Prompts with Reinforcement Learning”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idea: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paper applies reinforcement learning to optimize discrete text prompts rather than model parameters, treating prompt selection as a policy optimization problem.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Strengths: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Demon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strates the effectiveness of RL for discrete text optimization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Reduces reliance on labeled training data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Weaknesses: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uses on prompt optimization, not full text generation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Evaluated only in controlled experimental settings</a:t>
            </a:r>
          </a:p>
          <a:p>
            <a:pPr algn="l">
              <a:lnSpc>
                <a:spcPts val="2918"/>
              </a:lnSpc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Relation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to the main paper:</a:t>
            </a:r>
          </a:p>
          <a:p>
            <a:pPr algn="l">
              <a:lnSpc>
                <a:spcPts val="2918"/>
              </a:lnSpc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RLPrompt shows that reinforcement learning can successfully optimize text-based decisions, but it does not use real-world user behavior as feedback.</a:t>
            </a:r>
          </a:p>
          <a:p>
            <a:pPr algn="l">
              <a:lnSpc>
                <a:spcPts val="291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25" id="25"/>
          <p:cNvSpPr txBox="true"/>
          <p:nvPr/>
        </p:nvSpPr>
        <p:spPr>
          <a:xfrm rot="0">
            <a:off x="514175" y="1788346"/>
            <a:ext cx="17773825" cy="5414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3 (Earlier Research on RL for Text Generation)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Shi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et al., 2018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“Toward Diverse Text Generation with Inverse Reinforcement Learning”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idea: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work uses Inverse Reinforcement Learning (IRL) to learn a reward function for text generation, with the goal of improving diversity and quality.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Strengths: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arly introduction of reinforcement learning into text generation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Focuses on learning reward functions rather than hand-designed metrics</a:t>
            </a:r>
          </a:p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Weaknesses: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mall-scale datasets</a:t>
            </a:r>
          </a:p>
          <a:p>
            <a:pPr algn="l" marL="450069" indent="-225034" lvl="1">
              <a:lnSpc>
                <a:spcPts val="2918"/>
              </a:lnSpc>
              <a:buFont typeface="Arial"/>
              <a:buChar char="•"/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real-world or industrial evaluation</a:t>
            </a:r>
          </a:p>
          <a:p>
            <a:pPr algn="l">
              <a:lnSpc>
                <a:spcPts val="2918"/>
              </a:lnSpc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Relevanc</a:t>
            </a: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e:</a:t>
            </a:r>
          </a:p>
          <a:p>
            <a:pPr algn="l">
              <a:lnSpc>
                <a:spcPts val="2918"/>
              </a:lnSpc>
            </a:pPr>
            <a:r>
              <a:rPr lang="en-US" b="true" sz="20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paper highlights the potential of RL-based approaches for text generation but lacks practical validation.</a:t>
            </a:r>
          </a:p>
          <a:p>
            <a:pPr algn="l">
              <a:lnSpc>
                <a:spcPts val="291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25" id="25"/>
          <p:cNvSpPr txBox="true"/>
          <p:nvPr/>
        </p:nvSpPr>
        <p:spPr>
          <a:xfrm rot="0">
            <a:off x="474620" y="1968032"/>
            <a:ext cx="17813380" cy="481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4 (Analytical / Critical Perspective)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Ramamurthy</a:t>
            </a: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et al., 2022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“Is Reinforcement Learning (Not) for Natural Language Processing?”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idea: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This paper critically analyzes when reinforcement learning is suitable for NLP tasks and discusses challenges such as reward design, instability, and evaluation difficulties.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Strengths:</a:t>
            </a:r>
          </a:p>
          <a:p>
            <a:pPr algn="l" marL="460643" indent="-230321" lvl="1">
              <a:lnSpc>
                <a:spcPts val="2987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rovides a systematic analysis of RL challenges in NLP</a:t>
            </a:r>
          </a:p>
          <a:p>
            <a:pPr algn="l" marL="460643" indent="-230321" lvl="1">
              <a:lnSpc>
                <a:spcPts val="2987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Offers a conceptual framework for understanding RL applicability</a:t>
            </a:r>
          </a:p>
          <a:p>
            <a:pPr algn="l">
              <a:lnSpc>
                <a:spcPts val="2987"/>
              </a:lnSpc>
              <a:spcBef>
                <a:spcPct val="0"/>
              </a:spcBef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Weaknesses:</a:t>
            </a:r>
          </a:p>
          <a:p>
            <a:pPr algn="l" marL="460643" indent="-230321" lvl="1">
              <a:lnSpc>
                <a:spcPts val="2987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</a:t>
            </a: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 not propose a large-scale applied solution</a:t>
            </a:r>
          </a:p>
          <a:p>
            <a:pPr algn="l" marL="460643" indent="-230321" lvl="1">
              <a:lnSpc>
                <a:spcPts val="2987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21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inly theoretical and analytical</a:t>
            </a:r>
          </a:p>
          <a:p>
            <a:pPr algn="l">
              <a:lnSpc>
                <a:spcPts val="298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5875635" y="0"/>
            <a:ext cx="2412365" cy="2412365"/>
            <a:chOff x="0" y="0"/>
            <a:chExt cx="3216487" cy="3216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04122" y="1608244"/>
              <a:ext cx="804122" cy="804122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08244" y="1608244"/>
              <a:ext cx="804122" cy="804122"/>
              <a:chOff x="0" y="0"/>
              <a:chExt cx="1913890" cy="1913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412365"/>
              <a:ext cx="804122" cy="804122"/>
              <a:chOff x="0" y="0"/>
              <a:chExt cx="1913890" cy="19138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608244"/>
              <a:ext cx="804122" cy="804122"/>
              <a:chOff x="0" y="0"/>
              <a:chExt cx="1913890" cy="19138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804122" y="2412365"/>
              <a:ext cx="804122" cy="804122"/>
              <a:chOff x="0" y="0"/>
              <a:chExt cx="1913890" cy="1913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804122"/>
              <a:ext cx="804122" cy="804122"/>
              <a:chOff x="0" y="0"/>
              <a:chExt cx="1913890" cy="191389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08244" y="2412365"/>
              <a:ext cx="804122" cy="804122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04122" cy="804122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2412365" y="2412365"/>
              <a:ext cx="804122" cy="804122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Freeform 48" id="48"/>
          <p:cNvSpPr/>
          <p:nvPr/>
        </p:nvSpPr>
        <p:spPr>
          <a:xfrm flipH="false" flipV="false" rot="0">
            <a:off x="11558937" y="4814990"/>
            <a:ext cx="5066992" cy="5066992"/>
          </a:xfrm>
          <a:custGeom>
            <a:avLst/>
            <a:gdLst/>
            <a:ahLst/>
            <a:cxnLst/>
            <a:rect r="r" b="b" t="t" l="l"/>
            <a:pathLst>
              <a:path h="5066992" w="5066992">
                <a:moveTo>
                  <a:pt x="0" y="0"/>
                </a:moveTo>
                <a:lnTo>
                  <a:pt x="5066992" y="0"/>
                </a:lnTo>
                <a:lnTo>
                  <a:pt x="5066992" y="5066992"/>
                </a:lnTo>
                <a:lnTo>
                  <a:pt x="0" y="506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204795" y="533754"/>
            <a:ext cx="15013739" cy="598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5 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Jiang et al., 2025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“Improving Generative Ad Text on Facebook using Reinforcement Learning”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contribution: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Introduces Reinforcement Learning with Performance Feedback (RLPF)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Uses real user behavior (CTR) as the reward signal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Evaluates the model through a large-scale A/B test in a real production system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Strengths:</a:t>
            </a:r>
          </a:p>
          <a:p>
            <a:pPr algn="l" marL="493248" indent="-246624" lvl="1">
              <a:lnSpc>
                <a:spcPts val="3198"/>
              </a:lnSpc>
              <a:buFont typeface="Arial"/>
              <a:buChar char="•"/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Uses large-scale real-world data</a:t>
            </a:r>
          </a:p>
          <a:p>
            <a:pPr algn="l" marL="493248" indent="-246624" lvl="1">
              <a:lnSpc>
                <a:spcPts val="3198"/>
              </a:lnSpc>
              <a:buFont typeface="Arial"/>
              <a:buChar char="•"/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Demonstrates measurable business impact (+6.7% CTR)</a:t>
            </a:r>
          </a:p>
          <a:p>
            <a:pPr algn="l" marL="493248" indent="-246624" lvl="1">
              <a:lnSpc>
                <a:spcPts val="3198"/>
              </a:lnSpc>
              <a:buFont typeface="Arial"/>
              <a:buChar char="•"/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Represents one of the largest real-world evaluations of generative AI</a:t>
            </a:r>
          </a:p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Limitations:</a:t>
            </a:r>
          </a:p>
          <a:p>
            <a:pPr algn="l" marL="493248" indent="-246624" lvl="1">
              <a:lnSpc>
                <a:spcPts val="3198"/>
              </a:lnSpc>
              <a:buFont typeface="Arial"/>
              <a:buChar char="•"/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Uses offline reinforcement learning</a:t>
            </a:r>
          </a:p>
          <a:p>
            <a:pPr algn="l" marL="493248" indent="-246624" lvl="1">
              <a:lnSpc>
                <a:spcPts val="3198"/>
              </a:lnSpc>
              <a:buFont typeface="Arial"/>
              <a:buChar char="•"/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Optimizes a single metric (CTR)</a:t>
            </a:r>
          </a:p>
          <a:p>
            <a:pPr algn="l" marL="493248" indent="-246624" lvl="1">
              <a:lnSpc>
                <a:spcPts val="3198"/>
              </a:lnSpc>
              <a:buFont typeface="Arial"/>
              <a:buChar char="•"/>
            </a:pPr>
            <a:r>
              <a:rPr lang="en-US" b="true" sz="22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Does not explicitly model creativity or advertiser intent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754100" y="5567142"/>
            <a:ext cx="4455729" cy="350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A/B Test real:</a:t>
            </a:r>
          </a:p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35,000 advertiser</a:t>
            </a:r>
          </a:p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week</a:t>
            </a:r>
          </a:p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640,000 ads</a:t>
            </a:r>
          </a:p>
          <a:p>
            <a:pPr algn="l">
              <a:lnSpc>
                <a:spcPts val="3981"/>
              </a:lnSpc>
              <a:spcBef>
                <a:spcPct val="0"/>
              </a:spcBef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results:</a:t>
            </a:r>
          </a:p>
          <a:p>
            <a:pPr algn="l" marL="614026" indent="-307013" lvl="1">
              <a:lnSpc>
                <a:spcPts val="3981"/>
              </a:lnSpc>
              <a:buFont typeface="Arial"/>
              <a:buChar char="•"/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+6.7٪ increase in CTR</a:t>
            </a:r>
          </a:p>
          <a:p>
            <a:pPr algn="l" marL="614026" indent="-307013" lvl="1">
              <a:lnSpc>
                <a:spcPts val="3981"/>
              </a:lnSpc>
              <a:buFont typeface="Arial"/>
              <a:buChar char="•"/>
            </a:pPr>
            <a:r>
              <a:rPr lang="en-US" b="true" sz="284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+18.5٪ in ad variation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5875635" y="0"/>
            <a:ext cx="2412365" cy="2412365"/>
            <a:chOff x="0" y="0"/>
            <a:chExt cx="3216487" cy="3216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04122" y="1608244"/>
              <a:ext cx="804122" cy="804122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08244" y="1608244"/>
              <a:ext cx="804122" cy="804122"/>
              <a:chOff x="0" y="0"/>
              <a:chExt cx="1913890" cy="1913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412365"/>
              <a:ext cx="804122" cy="804122"/>
              <a:chOff x="0" y="0"/>
              <a:chExt cx="1913890" cy="19138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608244"/>
              <a:ext cx="804122" cy="804122"/>
              <a:chOff x="0" y="0"/>
              <a:chExt cx="1913890" cy="19138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804122" y="2412365"/>
              <a:ext cx="804122" cy="804122"/>
              <a:chOff x="0" y="0"/>
              <a:chExt cx="1913890" cy="1913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804122"/>
              <a:ext cx="804122" cy="804122"/>
              <a:chOff x="0" y="0"/>
              <a:chExt cx="1913890" cy="191389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08244" y="2412365"/>
              <a:ext cx="804122" cy="804122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04122" cy="804122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2412365" y="2412365"/>
              <a:ext cx="804122" cy="804122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48" id="48"/>
          <p:cNvSpPr txBox="true"/>
          <p:nvPr/>
        </p:nvSpPr>
        <p:spPr>
          <a:xfrm rot="0">
            <a:off x="1453996" y="1941944"/>
            <a:ext cx="15013739" cy="452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works</a:t>
            </a:r>
          </a:p>
          <a:p>
            <a:pPr algn="l" marL="622785" indent="-311392" lvl="1">
              <a:lnSpc>
                <a:spcPts val="40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Online Reinforcement Learning</a:t>
            </a:r>
          </a:p>
          <a:p>
            <a:pPr algn="l" marL="622785" indent="-311392" lvl="1">
              <a:lnSpc>
                <a:spcPts val="40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combination of </a:t>
            </a: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CTR + Creativity</a:t>
            </a:r>
          </a:p>
          <a:p>
            <a:pPr algn="l" marL="622785" indent="-311392" lvl="1">
              <a:lnSpc>
                <a:spcPts val="40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use of ad-provider in reward modification </a:t>
            </a:r>
          </a:p>
          <a:p>
            <a:pPr algn="l" marL="622785" indent="-311392" lvl="1">
              <a:lnSpc>
                <a:spcPts val="403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generalizable to </a:t>
            </a: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algn="l" marL="1245569" indent="-415190" lvl="2">
              <a:lnSpc>
                <a:spcPts val="4038"/>
              </a:lnSpc>
              <a:buFont typeface="Arial"/>
              <a:buChar char="⚬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</a:t>
            </a: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stomer Support</a:t>
            </a:r>
          </a:p>
          <a:p>
            <a:pPr algn="l" marL="1245569" indent="-415190" lvl="2">
              <a:lnSpc>
                <a:spcPts val="403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Educ</a:t>
            </a: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ation</a:t>
            </a:r>
          </a:p>
          <a:p>
            <a:pPr algn="l" marL="1245569" indent="-415190" lvl="2">
              <a:lnSpc>
                <a:spcPts val="4038"/>
              </a:lnSpc>
              <a:buFont typeface="Arial"/>
              <a:buChar char="⚬"/>
            </a:pP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Pub</a:t>
            </a:r>
            <a:r>
              <a:rPr lang="en-US" b="true" sz="2884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lic Messaging</a:t>
            </a:r>
          </a:p>
          <a:p>
            <a:pPr algn="l">
              <a:lnSpc>
                <a:spcPts val="403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877409"/>
            <a:ext cx="2409591" cy="2409591"/>
            <a:chOff x="0" y="0"/>
            <a:chExt cx="3212787" cy="321278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803197" y="1606394"/>
              <a:ext cx="803197" cy="803197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1606394" y="1606394"/>
              <a:ext cx="803197" cy="803197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2409591"/>
              <a:ext cx="803197" cy="803197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1606394"/>
              <a:ext cx="803197" cy="803197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803197" y="2409591"/>
              <a:ext cx="803197" cy="803197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803197"/>
              <a:ext cx="803197" cy="803197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1606394" y="2409591"/>
              <a:ext cx="803197" cy="803197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803197" cy="803197"/>
              <a:chOff x="0" y="0"/>
              <a:chExt cx="1913890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409591" y="2409591"/>
              <a:ext cx="803197" cy="803197"/>
              <a:chOff x="0" y="0"/>
              <a:chExt cx="1913890" cy="19138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803197" y="803197"/>
              <a:ext cx="803197" cy="803197"/>
              <a:chOff x="0" y="0"/>
              <a:chExt cx="1913890" cy="191389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grpSp>
        <p:nvGrpSpPr>
          <p:cNvPr name="Group 25" id="25"/>
          <p:cNvGrpSpPr/>
          <p:nvPr/>
        </p:nvGrpSpPr>
        <p:grpSpPr>
          <a:xfrm rot="-10800000">
            <a:off x="15875635" y="0"/>
            <a:ext cx="2412365" cy="2412365"/>
            <a:chOff x="0" y="0"/>
            <a:chExt cx="3216487" cy="321648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804122" y="1608244"/>
              <a:ext cx="804122" cy="804122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1608244" y="1608244"/>
              <a:ext cx="804122" cy="804122"/>
              <a:chOff x="0" y="0"/>
              <a:chExt cx="1913890" cy="19138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412365"/>
              <a:ext cx="804122" cy="804122"/>
              <a:chOff x="0" y="0"/>
              <a:chExt cx="1913890" cy="191389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1608244"/>
              <a:ext cx="804122" cy="804122"/>
              <a:chOff x="0" y="0"/>
              <a:chExt cx="1913890" cy="191389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804122" y="2412365"/>
              <a:ext cx="804122" cy="804122"/>
              <a:chOff x="0" y="0"/>
              <a:chExt cx="1913890" cy="191389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804122"/>
              <a:ext cx="804122" cy="804122"/>
              <a:chOff x="0" y="0"/>
              <a:chExt cx="1913890" cy="191389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1608244" y="2412365"/>
              <a:ext cx="804122" cy="804122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AAD3F0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04122" cy="804122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B5E1E9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2412365" y="2412365"/>
              <a:ext cx="804122" cy="804122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804122" y="804122"/>
              <a:ext cx="804122" cy="804122"/>
              <a:chOff x="0" y="0"/>
              <a:chExt cx="1913890" cy="191389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1913890" y="0"/>
                    </a:moveTo>
                    <a:lnTo>
                      <a:pt x="0" y="0"/>
                    </a:lnTo>
                    <a:lnTo>
                      <a:pt x="0" y="1913890"/>
                    </a:lnTo>
                    <a:lnTo>
                      <a:pt x="1913890" y="1913890"/>
                    </a:lnTo>
                    <a:close/>
                  </a:path>
                </a:pathLst>
              </a:custGeom>
            </p:spPr>
          </p:sp>
        </p:grpSp>
      </p:grpSp>
      <p:sp>
        <p:nvSpPr>
          <p:cNvPr name="TextBox 48" id="48"/>
          <p:cNvSpPr txBox="true"/>
          <p:nvPr/>
        </p:nvSpPr>
        <p:spPr>
          <a:xfrm rot="0">
            <a:off x="3927140" y="4222432"/>
            <a:ext cx="11795963" cy="137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0"/>
              </a:lnSpc>
            </a:pPr>
            <a:r>
              <a:rPr lang="en-US" sz="6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thanks for your attention 🌹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DAHAdMl_qEc</dc:identifier>
  <dcterms:modified xsi:type="dcterms:W3CDTF">2011-08-01T06:04:30Z</dcterms:modified>
  <cp:revision>1</cp:revision>
  <dc:title>nlp_presentation</dc:title>
</cp:coreProperties>
</file>